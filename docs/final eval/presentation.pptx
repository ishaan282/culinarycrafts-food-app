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75" r:id="rId6"/>
    <p:sldId id="269" r:id="rId7"/>
    <p:sldId id="276" r:id="rId8"/>
    <p:sldId id="261" r:id="rId9"/>
    <p:sldId id="271" r:id="rId10"/>
    <p:sldId id="273" r:id="rId11"/>
    <p:sldId id="274" r:id="rId12"/>
    <p:sldId id="277" r:id="rId13"/>
    <p:sldId id="263" r:id="rId14"/>
    <p:sldId id="272" r:id="rId15"/>
    <p:sldId id="264" r:id="rId16"/>
  </p:sldIdLst>
  <p:sldSz cx="9144000" cy="6858000" type="screen4x3"/>
  <p:notesSz cx="9144000" cy="6858000"/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0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7E63DD45-CC51-4F78-BABB-1264CF0E28B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F2FB918-20DE-4564-BCE0-CBCD6011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3" name="Slide Number Placeholder 5">
            <a:extLst>
              <a:ext uri="{0AE553BF-F3F1-4009-833F-5EE19CD499B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34723BC-317B-4B4F-8F8C-2394E5D6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4" name="Date Placeholder 3">
            <a:extLst>
              <a:ext uri="{EE6DC50B-4624-4797-9AC0-058C9E89D07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DED6DBB-866E-4D6C-8AD3-75EEE3BC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0D6D7EE9-57A9-42B8-A21E-3BB2D55BDBFD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2950D799-F615-4E99-A0DC-7D7D1A8403D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18E207C-6131-432B-80F2-2645A976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A27C61CC-ECD2-4805-9D14-B58C1F564DF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607AE31-8DC9-4C17-9850-72C1690A0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604520"/>
            <a:ext cx="8229239" cy="397728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  <p:sp>
        <p:nvSpPr>
          <p:cNvPr id="4" name="Footer Placeholder 4">
            <a:extLst>
              <a:ext uri="{EBB34AAA-41BF-4C88-8545-2A8ADE8D350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A90ADEB-0A0A-4BDB-A226-0460144F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5">
            <a:extLst>
              <a:ext uri="{96E54BC4-D2A4-4080-8365-F65BC4F11B6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DF2CA95-2CD0-4B6F-9125-388D9E7E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6" name="Date Placeholder 3">
            <a:extLst>
              <a:ext uri="{E316BDAF-A48F-421D-9214-CCCCAC2F559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00FC1B0-D9C6-430E-A73F-ACAFD2A7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CE9C86C-EF4C-4E28-9B30-98C9E8A8CFB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>
            <a:extLst>
              <a:ext uri="{58360F47-5846-4DC5-A3A5-E28EF795EDD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3A716A7-424D-421A-82EC-E30C44A06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63BF9830-3C9F-4B53-A35E-6B6D3DEFE7A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C5B09C9-5044-4A49-A5A4-7BF8A4FAF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8229239" cy="397728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Footer Placeholder 4">
            <a:extLst>
              <a:ext uri="{824E1FBA-25FC-4050-ADA7-340111342E5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6D06663-A7BB-4A32-95CB-99A1FE75D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5">
            <a:extLst>
              <a:ext uri="{D4CDF396-15D1-401B-990E-48D7255BA72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A968CD0-8B3E-48E7-A45C-D14A8ECC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6" name="Date Placeholder 3">
            <a:extLst>
              <a:ext uri="{4A6A4CEA-5FCA-4E79-A958-8288D64D2BA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AC79841-9D30-4C4B-9931-BF9FC312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4D9904C7-8D42-4658-BF97-3005AAAE0111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A9941F11-08FE-4DD2-B111-B62B25D6F2E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1671CE5-C429-4468-86A4-4F3972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6A7D1366-81A5-4D4D-9900-3AF2B2C9DE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7A6CD33-BC91-4D22-BB76-C6ABB9E08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>
            <a:extLst>
              <a:ext uri="{99025CBA-8D1C-4D7F-965C-7576A0636AC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9E8840C-DBED-43BE-B5FE-43A1448805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Footer Placeholder 4">
            <a:extLst>
              <a:ext uri="{E05F73E3-8ECF-416F-ABED-13494919104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423BCD5-BBF7-4C98-A0BE-981766F0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1CEBD6D1-F6FE-4656-9206-5E7E785A8B8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61A4EBE-F7C3-4169-A50C-579BB6A1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17652D2C-E558-46D3-A35A-0B997F9DDA8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9CB0C8C-E616-4F82-8B02-0976628DA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A8963543-6711-41B1-9FF6-FFCB84AE6FB8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EFBDA4B3-E00B-4206-A776-5C8463CE4EB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B9B21DC-70DB-4BF4-BA2C-4AA0532AC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Footer Placeholder 4">
            <a:extLst>
              <a:ext uri="{20EFF1E7-A883-4712-8058-79039484DFC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0654F62-0928-47E8-ABB9-EB4302BA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4" name="Slide Number Placeholder 5">
            <a:extLst>
              <a:ext uri="{E3AFEDB8-3875-4CCF-B918-6E9E496F0D1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95816FE-0D85-428E-8C9F-DD1EB2344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Date Placeholder 3">
            <a:extLst>
              <a:ext uri="{6A33784B-431A-40A6-9C4F-9CADD905CF4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D44746E-3275-4D97-A86A-C28D1978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8D39AA8C-3D7C-492E-BD90-8B79FA07DE4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BE372411-6178-4C31-9EFB-08304F71297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A920AE5-C681-449B-916F-D5F4A40559E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0" y="0"/>
            <a:ext cx="5486039" cy="423828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  <p:sp>
        <p:nvSpPr>
          <p:cNvPr id="3" name="Footer Placeholder 4">
            <a:extLst>
              <a:ext uri="{0CCDD1E7-F798-4C16-A578-3E8C0D562D3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11DCAE6-3A95-4894-9E46-45449301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4" name="Slide Number Placeholder 5">
            <a:extLst>
              <a:ext uri="{C42A90DF-A5FD-42D1-90EA-CF7D53B28A2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6671A00-BA67-4C8D-889E-9922C1CF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Date Placeholder 3">
            <a:extLst>
              <a:ext uri="{062AB4F9-F6EC-4158-893E-802A79FC6C4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C2E7EC-2F64-4D4A-AA63-813B9019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473E2E35-501D-4144-8566-5ED9BF8A757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D49B7E62-8833-4A88-A8EC-9D6861C9A10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A194DF2-2718-4CEB-87B6-A5705671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08D9DD65-DEA0-4176-87F1-F5127AB4CE5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6E020C9-DB07-4750-9870-8148C2845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>
            <a:extLst>
              <a:ext uri="{97585C36-6227-4713-8C84-1BE003696C3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0FF4D61-0823-4BA7-955F-19D31AD950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>
            <a:extLst>
              <a:ext uri="{44E0478A-2032-47B4-A8BC-7E48E22463B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49F535-5FD5-47E7-AE43-FFAB4B5ADF9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4">
            <a:extLst>
              <a:ext uri="{60582054-37C3-4EAA-B5A2-C9A823B34F1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0C2A864-6DF9-4603-AAD9-ADF3CFFB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7" name="Slide Number Placeholder 5">
            <a:extLst>
              <a:ext uri="{98754C4D-4688-4FDF-AA5B-CE27516C88D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5954EEB-3092-464C-91D1-BCAA3202F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8" name="Date Placeholder 3">
            <a:extLst>
              <a:ext uri="{B72F1D89-DA7A-47D4-90E7-08510115CD0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0F38A4-CD39-460A-9F5F-4269E395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C1F3C634-6FFC-447F-8390-109185B62BB3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31AA740E-9295-4BE7-A4A1-33614530732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E677E9D-E47C-4281-9830-F52734DE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ECF59796-4AA0-4649-9F39-F14CC1F8298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6881427-17F2-4A70-8EA0-849FA7EE1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>
            <a:extLst>
              <a:ext uri="{7FC3C298-B6F0-4D0A-9814-CAAA1070136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BC75EDA-982D-49F0-8A6D-46B0F15295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>
            <a:extLst>
              <a:ext uri="{432EF096-EEEE-4076-AE1E-75FBA2F318A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4528CB0-8F84-4BE9-BB79-C1C624282EC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4">
            <a:extLst>
              <a:ext uri="{8EC26C0C-4485-4D84-968B-E74A9EE9D5E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8A3F895-E733-4421-9742-DC5A4E5A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7" name="Slide Number Placeholder 5">
            <a:extLst>
              <a:ext uri="{5817EE38-4FA7-4C7E-82AA-B7AFD338C78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BA5B1B9-707F-4EFD-9702-9216EF38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8" name="Date Placeholder 3">
            <a:extLst>
              <a:ext uri="{4350283C-FDAA-4C22-89FB-FD586AE4F0F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78EDB64-CFB5-4080-BD14-C28BB6FC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AF0283AD-7020-43A8-A51D-05DB672D5950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BCEB625A-1F3B-45CC-961C-E472CD81718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449F6FC-1717-4A0C-96AA-8A62D38A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BFE46BBD-29B5-4C0B-A618-2C596BDE2D8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B9EE53D-307A-4B97-B0FB-D1CDC604D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>
            <a:extLst>
              <a:ext uri="{653E12B7-C2AC-469F-AE52-2A103E8A613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C7C420A-21FE-4A63-B9DB-618C42A7A1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>
            <a:extLst>
              <a:ext uri="{5D5A3C27-4250-43DF-B965-411C45BBF51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C1A4198-66D7-47A6-B0FF-3144782F984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7200" y="3682080"/>
            <a:ext cx="822923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oter Placeholder 4">
            <a:extLst>
              <a:ext uri="{475B6E90-9E20-40DF-A92B-0D7FBE9A6BB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5E06C67-68D5-4F4A-9ED9-2D03D1F7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7" name="Slide Number Placeholder 5">
            <a:extLst>
              <a:ext uri="{4C3E9DF9-18DC-4758-B1D5-8146DE70F69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132B329-774A-4E37-A8A9-2D053202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8" name="Date Placeholder 3">
            <a:extLst>
              <a:ext uri="{CF4F2044-A978-49CF-830B-80CB0F21F40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86A8210-431B-4E60-B545-67310589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6B5378A8-2999-4328-9F82-B7A69FAF758D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22FBA574-9B94-4AEA-A13D-0DA1C4C895B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34E77A3-724D-4DB6-B26E-7B175E28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9C42F8D6-4596-465E-8F79-5A5E3484847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B9BF2F1-33A1-47FF-813E-8F0269CC1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822923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>
            <a:extLst>
              <a:ext uri="{BEFDF029-36C8-4DC2-85CD-310141B0A71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3B37E69-46CC-432C-8045-CC987053A3F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3682080"/>
            <a:ext cx="822923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Footer Placeholder 4">
            <a:extLst>
              <a:ext uri="{E567B75A-8D5E-4DBE-994E-89279D5BD25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8676D2E-2ECB-41F0-A8CE-8BC4C951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70540FFD-9ED9-4CD3-A79B-8EAD77BA2EE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25D7328-2E8C-45FE-99DC-223E6B6F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9282D384-3708-4CCA-9483-AA504587240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87ADD13-CE1D-480B-BFAB-4F5BA51E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CB7523AE-2802-4065-A95A-82AC275418D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>
            <a:extLst>
              <a:ext uri="{1B366A63-A644-4D84-A84D-99D0CB81197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DCCFC1F-3E4A-4E8D-AD58-B59ECAD5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>
            <a:extLst>
              <a:ext uri="{1BC96858-644B-4073-88DF-42ED299A04A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239EF6A-5E06-4141-AEFF-C0F88FD71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3">
            <a:extLst>
              <a:ext uri="{87A8D0EC-765A-409A-81E1-912F8BBEF20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6ACCCDC-23FE-4A4C-A6A4-7F7FC288CC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>
            <a:extLst>
              <a:ext uri="{44FD9CD4-F247-4785-9F60-46011E50FD2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AAD2FA7-9731-4937-A4D4-4EFAFB468F1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5">
            <a:extLst>
              <a:ext uri="{9EA5F664-08F5-4DE4-8CBB-7E143D270E0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6FA0C3D-E728-406E-98BC-F596DEEAFF0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Footer Placeholder 4">
            <a:extLst>
              <a:ext uri="{EAB37F21-E633-465B-9D8C-3AE8CCD772A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E6D50BF-8F8E-4768-AECF-DB280913C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8" name="Slide Number Placeholder 5">
            <a:extLst>
              <a:ext uri="{6667C576-D65C-467A-810C-E8556AE2D81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DDE0BC9-8C07-4F2E-BEF8-5DFEA320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9" name="Date Placeholder 3">
            <a:extLst>
              <a:ext uri="{D0895288-3648-49F7-9C94-B046D4AC1A8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47C921F-354C-428D-9523-DE727ECB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3E1D7AC9-1663-4BA8-88E4-B98521B11BD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08891E17-CD5F-4AA3-9CC1-09E147BB51F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6226487-336E-4232-83AB-B8C9DD13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>
            <a:extLst>
              <a:ext uri="{1186F3C7-A1EC-49AD-BD29-BC7B58B2596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72DFF7F-7075-43E5-9F2B-D6DDF4D68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4520"/>
            <a:ext cx="264959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>
            <a:extLst>
              <a:ext uri="{B3EB62D3-044D-424C-BDFB-A03B5E6FDB7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F88E4CB-D7A6-46A9-B2EC-5BC1BEDCBA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39640" y="1604520"/>
            <a:ext cx="264959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>
            <a:extLst>
              <a:ext uri="{831AF208-D681-48FD-91B5-FAC71173B3B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D0017C4-9FC3-4E80-8967-E5AF2D8C61C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22080" y="1604520"/>
            <a:ext cx="264959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>
            <a:extLst>
              <a:ext uri="{E0D8C49F-300A-4955-B406-3BC25D57F4F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52378CF-AC34-4036-BC0B-69AEAD96021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57200" y="3682080"/>
            <a:ext cx="264959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>
            <a:extLst>
              <a:ext uri="{358E035D-9732-45DC-800C-C3156B67013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1EBDC88-343A-492D-A4E5-A0C8AFA246A4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3239640" y="3682080"/>
            <a:ext cx="264959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7">
            <a:extLst>
              <a:ext uri="{3B951E5B-CAF1-44B3-8A0F-FA6D78F378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775E1D5-C91C-41DB-86E8-5A26FEE31CA6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022080" y="3682080"/>
            <a:ext cx="2649599" cy="1896840"/>
          </a:xfrm>
          <a:prstGeom prst="rect">
            <a:avLst/>
          </a:prstGeom>
        </p:spPr>
        <p:txBody>
          <a:bodyPr lIns="0" tIns="0" rIns="0" bIns="0" rtlCol="0">
            <a:normAutofit/>
          </a:bodyPr>
          <a:lstStyle/>
          <a:p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Footer Placeholder 4">
            <a:extLst>
              <a:ext uri="{6826CA5E-F7F2-419D-A296-E7A175223E6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018D69D-98C6-4720-8A0F-72C472C7D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10" name="Slide Number Placeholder 5">
            <a:extLst>
              <a:ext uri="{5735E181-D9D1-4E91-A382-87BE39A74A5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2051B02-C900-479A-8739-B23A8E1A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11" name="Date Placeholder 3">
            <a:extLst>
              <a:ext uri="{812447E5-F796-4FE0-ACA4-A01EBB50647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2ED3E93-A3EE-4035-B54C-512BFC62B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3D1BB6E4-F09F-4773-AD3F-C6E005C125F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6020039B-93E6-41B9-9F8C-72027E1128B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DC6F588-909D-4A94-AF1B-0810B88C7BF3}"/>
              </a:ext>
            </a:extLst>
          </p:cNvPr>
          <p:cNvSpPr/>
          <p:nvPr/>
        </p:nvSpPr>
        <p:spPr>
          <a:xfrm>
            <a:off x="0" y="0"/>
            <a:ext cx="9143639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ustomShape 2">
            <a:extLst>
              <a:ext uri="{70DB6779-6852-40CE-8EA7-BF4158E1C8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2B8240D-F422-4C6A-BD35-B0C9974585CF}"/>
              </a:ext>
            </a:extLst>
          </p:cNvPr>
          <p:cNvSpPr/>
          <p:nvPr/>
        </p:nvSpPr>
        <p:spPr>
          <a:xfrm flipV="1">
            <a:off x="0" y="6704640"/>
            <a:ext cx="9143639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10" descr="LOGO.gif">
            <a:extLst>
              <a:ext uri="{3BAC5D5D-B770-4F34-9115-CEA45B1CA9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42EB9B6-B8FB-401F-9C5E-24A0F5BCFCAD}"/>
              </a:ext>
            </a:extLst>
          </p:cNvPr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5" name="Picture 10" descr="LOGO.gif">
            <a:extLst>
              <a:ext uri="{5C515FE0-217D-4927-A1D2-6DFB4253162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B5BC841-2F0C-45F3-96BB-2EF2519C1D02}"/>
              </a:ext>
            </a:extLst>
          </p:cNvPr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6" name="Group 3">
            <a:extLst>
              <a:ext uri="{85BD558E-6550-4960-915B-15EE57EF29B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C84A0A-02CD-4A45-A179-BFB4BECC8FF8}"/>
              </a:ext>
            </a:extLst>
          </p:cNvPr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7" name="CustomShape 4">
              <a:extLst>
                <a:ext uri="{0BB3CD4E-46F3-4714-BE98-D4E4085A80A6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A4923-D334-4C17-8C76-B647B0C18D98}"/>
                </a:ext>
              </a:extLst>
            </p:cNvPr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8" name="Picture 9" descr="LOGO.gif">
              <a:extLst>
                <a:ext uri="{6467126D-EC8B-4D83-B62F-911BB00D1D19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6BEE510-8173-4C82-AE99-42D49A3F6EAF}"/>
                </a:ext>
              </a:extLst>
            </p:cNvPr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9" name="CustomShape 5">
              <a:extLst>
                <a:ext uri="{0B8F8274-7A8E-4CCF-8FA6-B5DD393D7B55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399502F-055F-4FBA-87E6-A3E5CCE9C237}"/>
                </a:ext>
              </a:extLst>
            </p:cNvPr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0" name="Picture 15" descr="logo.jpg">
            <a:extLst>
              <a:ext uri="{B899ED1A-B8C1-45BA-950E-C1BEFE0486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6A6FF20-0CD8-46AD-ABF4-24E4E0696DC6}"/>
              </a:ext>
            </a:extLst>
          </p:cNvPr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 w="9360">
            <a:noFill/>
          </a:ln>
        </p:spPr>
      </p:pic>
      <p:pic>
        <p:nvPicPr>
          <p:cNvPr id="11" name="Picture 10" descr="LOGO.gif">
            <a:extLst>
              <a:ext uri="{64FE3CB0-F299-4BF4-8DB9-A7B0212B7F1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2F39D56-D52E-41C6-BB6B-0AB65DA8F774}"/>
              </a:ext>
            </a:extLst>
          </p:cNvPr>
          <p:cNvPicPr/>
          <p:nvPr/>
        </p:nvPicPr>
        <p:blipFill>
          <a:blip r:embed="rId14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 w="9360">
            <a:noFill/>
          </a:ln>
        </p:spPr>
      </p:pic>
      <p:grpSp>
        <p:nvGrpSpPr>
          <p:cNvPr id="12" name="Group 6">
            <a:extLst>
              <a:ext uri="{5C1DAB7B-4144-46F7-9391-39D2896A190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8F6B02B-6169-4565-BAC6-D866CBE071C4}"/>
              </a:ext>
            </a:extLst>
          </p:cNvPr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3" name="CustomShape 7">
              <a:extLst>
                <a:ext uri="{E93006CA-FB14-4A05-8F40-023865E84960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CFFB17F-8D7F-406E-916D-784BBAA9CA49}"/>
                </a:ext>
              </a:extLst>
            </p:cNvPr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9" descr="LOGO.gif">
              <a:extLst>
                <a:ext uri="{3F3DDB22-625E-4F05-B139-6E8EF3D4655C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7F0FE42-2399-440A-A62E-A149C718BD42}"/>
                </a:ext>
              </a:extLst>
            </p:cNvPr>
            <p:cNvPicPr/>
            <p:nvPr/>
          </p:nvPicPr>
          <p:blipFill>
            <a:blip r:embed="rId14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 w="9360">
              <a:noFill/>
            </a:ln>
          </p:spPr>
        </p:pic>
        <p:sp>
          <p:nvSpPr>
            <p:cNvPr id="15" name="CustomShape 8">
              <a:extLst>
                <a:ext uri="{FCDC4AA9-2B29-48CE-BAC1-6A111CBF5B3B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C90C34B-B092-43A5-8B67-3B977528D11F}"/>
                </a:ext>
              </a:extLst>
            </p:cNvPr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6" name="Picture 15" descr="logo.jpg">
            <a:extLst>
              <a:ext uri="{A8920B9D-AF1E-4E72-A7DC-9ADA8D41A2A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40FE61C-97F4-4142-8364-4F174B7095A3}"/>
              </a:ext>
            </a:extLst>
          </p:cNvPr>
          <p:cNvPicPr/>
          <p:nvPr/>
        </p:nvPicPr>
        <p:blipFill>
          <a:blip r:embed="rId15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17" name="PlaceHolder 9">
            <a:extLst>
              <a:ext uri="{908A0A0C-A5F0-48E0-9B96-40FAFC00F3A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FE0840E-59A6-46EC-A8B5-9C4FCA9DD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8" name="PlaceHolder 10">
            <a:extLst>
              <a:ext uri="{0FB503D6-4BA1-4049-B4D7-458ADB9BF15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11428E-5B05-49F4-BE3A-A24E0D4D4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239" cy="4525559"/>
          </a:xfrm>
          <a:prstGeom prst="rect">
            <a:avLst/>
          </a:prstGeom>
        </p:spPr>
        <p:txBody>
          <a:bodyPr lIns="91440" tIns="45720" rIns="91440" bIns="45720" rtlCol="0"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19" name="PlaceHolder 11">
            <a:extLst>
              <a:ext uri="{34E1CE08-00F3-4CF5-90E1-C268602BD35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EBDEFDA-F776-42EE-B902-352655F24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520"/>
            <a:ext cx="2133359" cy="364680"/>
          </a:xfrm>
          <a:prstGeom prst="rect">
            <a:avLst/>
          </a:prstGeom>
        </p:spPr>
        <p:txBody>
          <a:bodyPr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0" name="PlaceHolder 12">
            <a:extLst>
              <a:ext uri="{77409E69-C51E-4D61-8B27-6B380FE34CB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694BBC0-7DFB-4B7F-8E92-57FEEB034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lIns="91440" tIns="45720" rIns="91440" bIns="45720" rtlCol="0" anchor="ctr">
            <a:noAutofit/>
          </a:bodyPr>
          <a:lstStyle/>
          <a:p>
            <a:r>
              <a:rPr lang="en-GB" sz="2400" b="0" strike="noStrike" spc="-1" dirty="0">
                <a:latin typeface="Times New Roman"/>
              </a:rPr>
              <a:t>Name</a:t>
            </a:r>
          </a:p>
        </p:txBody>
      </p:sp>
      <p:sp>
        <p:nvSpPr>
          <p:cNvPr id="21" name="PlaceHolder 13">
            <a:extLst>
              <a:ext uri="{CC205213-EEC0-40E5-99E5-E3BAD5AF970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E58C389-B2BA-4A07-A1D7-D3AAA229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080" y="6356520"/>
            <a:ext cx="2133359" cy="364680"/>
          </a:xfrm>
          <a:prstGeom prst="rect">
            <a:avLst/>
          </a:prstGeom>
        </p:spPr>
        <p:txBody>
          <a:bodyPr lIns="91440" tIns="45720" rIns="91440" bIns="45720" rtlCol="0" anchor="ctr">
            <a:noAutofit/>
          </a:bodyPr>
          <a:lstStyle/>
          <a:p>
            <a:pPr algn="r">
              <a:lnSpc>
                <a:spcPct val="100000"/>
              </a:lnSpc>
            </a:pPr>
            <a:fld id="{CABE9B1C-85BE-4435-86B1-D479A11DD967}" type="slidenum">
              <a:t>‹#›</a:t>
            </a:fld>
            <a:endParaRPr lang="en-US" sz="1200" b="0" strike="noStrike" spc="-1" dirty="0">
              <a:solidFill>
                <a:srgbClr val="898989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Font typeface="Arial"/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Font typeface="Arial"/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expressjs.com/" TargetMode="External"/><Relationship Id="rId3" Type="http://schemas.openxmlformats.org/officeDocument/2006/relationships/hyperlink" Target="https://react.dev/learn" TargetMode="External"/><Relationship Id="rId7" Type="http://schemas.openxmlformats.org/officeDocument/2006/relationships/hyperlink" Target="https://mongoosejs.com/docs/" TargetMode="External"/><Relationship Id="rId2" Type="http://schemas.openxmlformats.org/officeDocument/2006/relationships/hyperlink" Target="https://ai.google.dev/gemini-api/doc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s.docusign.com/platform/auth/jwt/" TargetMode="External"/><Relationship Id="rId5" Type="http://schemas.openxmlformats.org/officeDocument/2006/relationships/hyperlink" Target="https://socket.io/docs/v4" TargetMode="External"/><Relationship Id="rId4" Type="http://schemas.openxmlformats.org/officeDocument/2006/relationships/hyperlink" Target="https://www.mongodb.com/docs/" TargetMode="External"/><Relationship Id="rId9" Type="http://schemas.openxmlformats.org/officeDocument/2006/relationships/hyperlink" Target="https://nodejs.org/api/all.htm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915281ED-B2E6-4B6B-A1E4-EDE474CDB09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A18DF06-ACEE-41B1-B72F-529ABAD87F5A}"/>
              </a:ext>
            </a:extLst>
          </p:cNvPr>
          <p:cNvSpPr txBox="1"/>
          <p:nvPr/>
        </p:nvSpPr>
        <p:spPr>
          <a:xfrm>
            <a:off x="0" y="840630"/>
            <a:ext cx="9144000" cy="5788770"/>
          </a:xfrm>
          <a:prstGeom prst="rect">
            <a:avLst/>
          </a:prstGeom>
          <a:noFill/>
          <a:ln w="9360">
            <a:noFill/>
          </a:ln>
        </p:spPr>
        <p:txBody>
          <a:bodyPr rtlCol="0"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sz="2000" b="1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b="1" dirty="0">
                <a:latin typeface="Times New Roman"/>
              </a:rPr>
              <a:t>Project Presentation of </a:t>
            </a:r>
            <a:r>
              <a:rPr lang="en-IN" sz="2000" b="1" dirty="0" err="1">
                <a:latin typeface="Times New Roman"/>
              </a:rPr>
              <a:t>Ptoject</a:t>
            </a:r>
            <a:r>
              <a:rPr lang="en-IN" sz="2000" b="1" dirty="0">
                <a:latin typeface="Times New Roman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600" b="1" dirty="0" err="1">
                <a:latin typeface="Times New Roman"/>
              </a:rPr>
              <a:t>CulinaryCrafts</a:t>
            </a:r>
            <a:r>
              <a:rPr lang="en-US" sz="3600" dirty="0">
                <a:latin typeface="Times New Roman"/>
              </a:rPr>
              <a:t> : A Food App</a:t>
            </a:r>
            <a:endParaRPr lang="en-US" sz="3200" dirty="0"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1ECE4-C062-29EC-13FE-7AF8EFFE2C85}"/>
              </a:ext>
            </a:extLst>
          </p:cNvPr>
          <p:cNvSpPr txBox="1"/>
          <p:nvPr/>
        </p:nvSpPr>
        <p:spPr>
          <a:xfrm>
            <a:off x="228600" y="3352800"/>
            <a:ext cx="495300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400"/>
              </a:spcBef>
            </a:pPr>
            <a:endParaRPr lang="en-US" sz="2400" dirty="0"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/>
              </a:rPr>
              <a:t>Submitted By:</a:t>
            </a:r>
            <a:br>
              <a:rPr lang="en-US" sz="2400" dirty="0">
                <a:latin typeface="Times New Roman"/>
              </a:rPr>
            </a:br>
            <a:r>
              <a:rPr lang="en-US" dirty="0">
                <a:latin typeface="Times New Roman"/>
              </a:rPr>
              <a:t>Ishaan Singla (2210992582)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</a:rPr>
              <a:t>Sanya Bajaj (2210992255)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</a:rPr>
              <a:t>Ishneet (2210991681)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EAB398-32F9-AC3C-834E-C2B862F7CAD8}"/>
              </a:ext>
            </a:extLst>
          </p:cNvPr>
          <p:cNvSpPr txBox="1"/>
          <p:nvPr/>
        </p:nvSpPr>
        <p:spPr>
          <a:xfrm>
            <a:off x="6269952" y="3627512"/>
            <a:ext cx="2247900" cy="1012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Preeti Saini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0D1E7-307E-774C-0821-E06EDB8DEB04}"/>
              </a:ext>
            </a:extLst>
          </p:cNvPr>
          <p:cNvSpPr txBox="1"/>
          <p:nvPr/>
        </p:nvSpPr>
        <p:spPr>
          <a:xfrm>
            <a:off x="1600200" y="5833807"/>
            <a:ext cx="5793702" cy="9746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endParaRPr lang="en-US" dirty="0"/>
          </a:p>
        </p:txBody>
      </p:sp>
    </p:spTree>
    <p:extLst>
      <p:ext uri="{D4F75D74-FC1A-43EC-9948-CC7D1D132D46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96AF645-5A86-4B42-9BED-2A5770D898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73C1C26-6C3B-47E5-800F-4EF92372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486039" cy="914040"/>
          </a:xfrm>
        </p:spPr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n-IN" sz="3000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3" name="Text Placeholder 2">
            <a:extLst>
              <a:ext uri="{5AE0E925-78E6-4D69-B0CF-34477066543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718510-5EAB-4EEA-9194-7CE2AE76B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23872"/>
            <a:ext cx="8229239" cy="5476928"/>
          </a:xfrm>
        </p:spPr>
        <p:txBody>
          <a:bodyPr rtlCol="0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CulinaryCrafts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MERN-stack web application designed as an all-in-one food companion. It enables users to:</a:t>
            </a:r>
          </a:p>
          <a:p>
            <a:pPr lvl="1">
              <a:lnSpc>
                <a:spcPct val="170000"/>
              </a:lnSpc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and discover recipes</a:t>
            </a:r>
          </a:p>
          <a:p>
            <a:pPr lvl="1">
              <a:lnSpc>
                <a:spcPct val="170000"/>
              </a:lnSpc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custom recipes using </a:t>
            </a:r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AI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food enthusiasts via real-time chat (Socket.IO).</a:t>
            </a:r>
          </a:p>
          <a:p>
            <a:pPr lvl="1">
              <a:lnSpc>
                <a:spcPct val="170000"/>
              </a:lnSpc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 for ingredients and manage personal shopping lists</a:t>
            </a:r>
          </a:p>
          <a:p>
            <a:pPr marL="457200" lvl="1" indent="0">
              <a:lnSpc>
                <a:spcPct val="170000"/>
              </a:lnSpc>
              <a:buNone/>
            </a:pPr>
            <a:endParaRPr lang="en-GB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combines modern web technologies with AI to deliver a fun, interactive, and practical cooking experience.</a:t>
            </a:r>
          </a:p>
        </p:txBody>
      </p:sp>
      <p:pic>
        <p:nvPicPr>
          <p:cNvPr id="6" name="Picture 5" descr="A person working on a piece of jewelry&#10;&#10;AI-generated content may be incorrect.">
            <a:extLst>
              <a:ext uri="{8E5B0347-42A0-4653-8F50-3D22370ACA1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F0F164D-3CDE-495F-9755-2C9DF20BBD4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000000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-449344" y="-6440864"/>
            <a:ext cx="2619375" cy="1743075"/>
          </a:xfrm>
          <a:prstGeom prst="rect">
            <a:avLst/>
          </a:prstGeom>
          <a:noFill/>
        </p:spPr>
      </p:pic>
    </p:spTree>
    <p:extLst>
      <p:ext uri="{79EDF9BA-1A1A-42CC-A67E-5D76495BDF32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018158CB-7AAD-4F13-BE9D-9E311330992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43A0093-F8B0-4CCB-8E7C-37DD2DBEEB89}"/>
              </a:ext>
            </a:extLst>
          </p:cNvPr>
          <p:cNvSpPr txBox="1"/>
          <p:nvPr/>
        </p:nvSpPr>
        <p:spPr>
          <a:xfrm>
            <a:off x="243555" y="-25521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rtlCol="0" anchor="ctr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Shape 2">
            <a:extLst>
              <a:ext uri="{D5C2878E-425B-4617-A256-934EB526FA3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B9442DD-6A83-4E8B-ADC0-0377973833B5}"/>
              </a:ext>
            </a:extLst>
          </p:cNvPr>
          <p:cNvSpPr txBox="1"/>
          <p:nvPr/>
        </p:nvSpPr>
        <p:spPr>
          <a:xfrm>
            <a:off x="164007" y="895739"/>
            <a:ext cx="8838720" cy="5643120"/>
          </a:xfrm>
          <a:prstGeom prst="rect">
            <a:avLst/>
          </a:prstGeom>
          <a:noFill/>
          <a:ln w="9360">
            <a:noFill/>
          </a:ln>
        </p:spPr>
        <p:txBody>
          <a:bodyPr rtlCol="0"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Cooking enthusiasts often face challenges such as:</a:t>
            </a:r>
          </a:p>
          <a:p>
            <a:pPr marL="742950" lvl="1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finding </a:t>
            </a:r>
            <a:r>
              <a:rPr 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recipes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match dietary preferences.</a:t>
            </a:r>
          </a:p>
          <a:p>
            <a:pPr marL="742950" lvl="1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interaction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other food lovers.</a:t>
            </a:r>
          </a:p>
          <a:p>
            <a:pPr marL="742950" lvl="1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ingredient shopping lists 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efficiently.</a:t>
            </a:r>
          </a:p>
          <a:p>
            <a:pPr marL="742950" lvl="1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platforms that </a:t>
            </a:r>
            <a:r>
              <a:rPr 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 recipe discovery, AI assistance, and social engagement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one place.</a:t>
            </a:r>
          </a:p>
          <a:p>
            <a:pPr marL="742950" lvl="1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lvl="1" algn="just">
              <a:lnSpc>
                <a:spcPct val="150000"/>
              </a:lnSpc>
              <a:spcBef>
                <a:spcPts val="400"/>
              </a:spcBef>
            </a:pP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comprehensive food application that solves these issues by integrating AI-powered recipe generation, real-time chat, and ingredient management in a single platform.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9BE60696-63D1-45D4-93CD-D43DBB807D6B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B84F-312F-1584-D1FF-9B22F771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4A28FA5C-7C40-0973-E0A0-019C434D2E18}"/>
              </a:ext>
              <a:ext uri="{018158CB-7AAD-4F13-BE9D-9E311330992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43A0093-F8B0-4CCB-8E7C-37DD2DBEEB89}"/>
              </a:ext>
            </a:extLst>
          </p:cNvPr>
          <p:cNvSpPr txBox="1"/>
          <p:nvPr/>
        </p:nvSpPr>
        <p:spPr>
          <a:xfrm>
            <a:off x="0" y="0"/>
            <a:ext cx="5486039" cy="914040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spc="-1" dirty="0">
                <a:solidFill>
                  <a:srgbClr val="000000"/>
                </a:solidFill>
                <a:latin typeface="Arial"/>
              </a:rPr>
              <a:t>Technology Stack</a:t>
            </a:r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ECAB5FAE-55A9-ACD0-5530-8BDD03123391}"/>
              </a:ext>
              <a:ext uri="{D5C2878E-425B-4617-A256-934EB526FA3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B9442DD-6A83-4E8B-ADC0-0377973833B5}"/>
              </a:ext>
            </a:extLst>
          </p:cNvPr>
          <p:cNvSpPr txBox="1"/>
          <p:nvPr/>
        </p:nvSpPr>
        <p:spPr>
          <a:xfrm>
            <a:off x="457200" y="1604520"/>
            <a:ext cx="8229239" cy="3977280"/>
          </a:xfrm>
          <a:prstGeom prst="rect">
            <a:avLst/>
          </a:prstGeom>
        </p:spPr>
        <p:txBody>
          <a:bodyPr lIns="0" tIns="0" rIns="0" bIns="0" rtlCol="0">
            <a:normAutofit fontScale="92500" lnSpcReduction="20000"/>
          </a:bodyPr>
          <a:lstStyle/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7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 for dynamic UI and responsive design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7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with Express.js for RESTful APIs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7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MongoDB Atlas for flexible NoSQL storage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7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Communication: Socket.IO for instant messaging and image sharing</a:t>
            </a: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7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 Google Gemini API for personalized recipe generation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F94CFC5-62B0-9E63-76F3-04DEA7E80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080" y="6356520"/>
            <a:ext cx="2895120" cy="36468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077709394"/>
      </p:ext>
      <p:ext uri="{9BE60696-63D1-45D4-93CD-D43DBB807D6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2545157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375E-9AE4-B182-BAF7-F0AD100D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</p:spPr>
        <p:txBody>
          <a:bodyPr anchor="ctr">
            <a:normAutofit/>
          </a:bodyPr>
          <a:lstStyle/>
          <a:p>
            <a:r>
              <a:rPr lang="en-US" sz="3000">
                <a:solidFill>
                  <a:srgbClr val="000000"/>
                </a:solidFill>
              </a:rPr>
              <a:t>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74294-4A52-2733-67F6-8F4814C50F26}"/>
              </a:ext>
            </a:extLst>
          </p:cNvPr>
          <p:cNvSpPr txBox="1"/>
          <p:nvPr/>
        </p:nvSpPr>
        <p:spPr>
          <a:xfrm>
            <a:off x="4916" y="837720"/>
            <a:ext cx="8686800" cy="5498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Client-Server Model</a:t>
            </a:r>
            <a:r>
              <a:rPr lang="en-US" sz="2000" dirty="0"/>
              <a:t>: React.js frontend communicates with Node.js backend via RESTful APIs.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Authentication Layer</a:t>
            </a:r>
            <a:r>
              <a:rPr lang="en-US" sz="2000" dirty="0"/>
              <a:t>: JWT-based authentication for secure user sessions.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State Management: Context API for global state (user, cart, chat).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Database Layer</a:t>
            </a:r>
            <a:r>
              <a:rPr lang="en-US" sz="2000" dirty="0"/>
              <a:t>: MongoDB Atlas for storing users, recipes, chat messages, and shopping lists.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Real-Time Communication</a:t>
            </a:r>
            <a:r>
              <a:rPr lang="en-US" sz="2000" dirty="0"/>
              <a:t>: Socket.IO for bidirectional messaging and image sharing.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AI Integration Layer</a:t>
            </a:r>
            <a:r>
              <a:rPr lang="en-US" sz="2000" dirty="0"/>
              <a:t>: Gemini API for generating structured recipes based on user prompts.</a:t>
            </a:r>
          </a:p>
        </p:txBody>
      </p:sp>
    </p:spTree>
    <p:extLst>
      <p:ext uri="{BB962C8B-B14F-4D97-AF65-F5344CB8AC3E}">
        <p14:creationId xmlns:p14="http://schemas.microsoft.com/office/powerpoint/2010/main" val="231948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9A8425-E3D1-7BF0-A3E7-4F591A1D7FBA}"/>
              </a:ext>
            </a:extLst>
          </p:cNvPr>
          <p:cNvSpPr txBox="1"/>
          <p:nvPr/>
        </p:nvSpPr>
        <p:spPr>
          <a:xfrm>
            <a:off x="76200" y="152400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0ABB02-4BA7-5579-D857-21D38048CD2F}"/>
              </a:ext>
            </a:extLst>
          </p:cNvPr>
          <p:cNvSpPr/>
          <p:nvPr/>
        </p:nvSpPr>
        <p:spPr>
          <a:xfrm>
            <a:off x="266700" y="1371600"/>
            <a:ext cx="2362200" cy="114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(React.js)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746A8E-2DD8-6E70-CDB9-083977E1EBAD}"/>
              </a:ext>
            </a:extLst>
          </p:cNvPr>
          <p:cNvSpPr/>
          <p:nvPr/>
        </p:nvSpPr>
        <p:spPr>
          <a:xfrm>
            <a:off x="3526536" y="1447800"/>
            <a:ext cx="2362200" cy="114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(Express.js)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3A9B2-E9D1-5469-F305-CC58CD1C243D}"/>
              </a:ext>
            </a:extLst>
          </p:cNvPr>
          <p:cNvSpPr/>
          <p:nvPr/>
        </p:nvSpPr>
        <p:spPr>
          <a:xfrm>
            <a:off x="6553200" y="1371600"/>
            <a:ext cx="2362200" cy="114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(MongoDB)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BE7D0-A4ED-0BDE-B5D8-E14C81B70050}"/>
              </a:ext>
            </a:extLst>
          </p:cNvPr>
          <p:cNvCxnSpPr>
            <a:cxnSpLocks/>
          </p:cNvCxnSpPr>
          <p:nvPr/>
        </p:nvCxnSpPr>
        <p:spPr>
          <a:xfrm>
            <a:off x="2819400" y="1923729"/>
            <a:ext cx="6096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BB7416-9515-EB97-6C01-016089EBEF7A}"/>
              </a:ext>
            </a:extLst>
          </p:cNvPr>
          <p:cNvCxnSpPr>
            <a:cxnSpLocks/>
          </p:cNvCxnSpPr>
          <p:nvPr/>
        </p:nvCxnSpPr>
        <p:spPr>
          <a:xfrm>
            <a:off x="5964936" y="1923729"/>
            <a:ext cx="51206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BD265A-25BD-4EFA-4CBC-35135167B3C5}"/>
              </a:ext>
            </a:extLst>
          </p:cNvPr>
          <p:cNvCxnSpPr>
            <a:cxnSpLocks/>
          </p:cNvCxnSpPr>
          <p:nvPr/>
        </p:nvCxnSpPr>
        <p:spPr>
          <a:xfrm>
            <a:off x="609600" y="25908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E0F6A0-50B4-9CC1-8E65-DA667049D2EB}"/>
              </a:ext>
            </a:extLst>
          </p:cNvPr>
          <p:cNvCxnSpPr>
            <a:cxnSpLocks/>
          </p:cNvCxnSpPr>
          <p:nvPr/>
        </p:nvCxnSpPr>
        <p:spPr>
          <a:xfrm>
            <a:off x="609600" y="32766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45FEA5A-FE65-3B0E-A13C-6201CB827685}"/>
              </a:ext>
            </a:extLst>
          </p:cNvPr>
          <p:cNvCxnSpPr>
            <a:cxnSpLocks/>
          </p:cNvCxnSpPr>
          <p:nvPr/>
        </p:nvCxnSpPr>
        <p:spPr>
          <a:xfrm>
            <a:off x="609600" y="38862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2BB425-693B-EEE0-B2BB-14C287655841}"/>
              </a:ext>
            </a:extLst>
          </p:cNvPr>
          <p:cNvCxnSpPr>
            <a:cxnSpLocks/>
          </p:cNvCxnSpPr>
          <p:nvPr/>
        </p:nvCxnSpPr>
        <p:spPr>
          <a:xfrm>
            <a:off x="597408" y="46482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185FF51-C8F2-E236-2CF2-759E00B9E8CE}"/>
              </a:ext>
            </a:extLst>
          </p:cNvPr>
          <p:cNvCxnSpPr>
            <a:cxnSpLocks/>
          </p:cNvCxnSpPr>
          <p:nvPr/>
        </p:nvCxnSpPr>
        <p:spPr>
          <a:xfrm>
            <a:off x="609600" y="53340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839BC5B-B8FF-02A6-C0CF-A1B5E05D66B0}"/>
              </a:ext>
            </a:extLst>
          </p:cNvPr>
          <p:cNvSpPr txBox="1"/>
          <p:nvPr/>
        </p:nvSpPr>
        <p:spPr>
          <a:xfrm>
            <a:off x="685800" y="3396734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UI interaction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0FDCC2-45F5-1516-5270-41F8D04A0FCB}"/>
              </a:ext>
            </a:extLst>
          </p:cNvPr>
          <p:cNvSpPr txBox="1"/>
          <p:nvPr/>
        </p:nvSpPr>
        <p:spPr>
          <a:xfrm>
            <a:off x="685800" y="4038600"/>
            <a:ext cx="251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State Management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9FA0A2-A2E0-DC7E-000C-FE3A4C7D9D26}"/>
              </a:ext>
            </a:extLst>
          </p:cNvPr>
          <p:cNvSpPr txBox="1"/>
          <p:nvPr/>
        </p:nvSpPr>
        <p:spPr>
          <a:xfrm>
            <a:off x="701040" y="469213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-- Axios Requests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0513B6-0966-2F68-260D-03514F7A5164}"/>
              </a:ext>
            </a:extLst>
          </p:cNvPr>
          <p:cNvSpPr txBox="1"/>
          <p:nvPr/>
        </p:nvSpPr>
        <p:spPr>
          <a:xfrm>
            <a:off x="76200" y="5900107"/>
            <a:ext cx="3733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Actions: explore recipes, order Ingredients, chat)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A18650-7210-BC4B-25E8-C32ABAF41EDA}"/>
              </a:ext>
            </a:extLst>
          </p:cNvPr>
          <p:cNvCxnSpPr>
            <a:cxnSpLocks/>
          </p:cNvCxnSpPr>
          <p:nvPr/>
        </p:nvCxnSpPr>
        <p:spPr>
          <a:xfrm>
            <a:off x="3822181" y="4532376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A4610AB-12D9-546B-E7AC-418998F3F086}"/>
              </a:ext>
            </a:extLst>
          </p:cNvPr>
          <p:cNvCxnSpPr>
            <a:cxnSpLocks/>
          </p:cNvCxnSpPr>
          <p:nvPr/>
        </p:nvCxnSpPr>
        <p:spPr>
          <a:xfrm>
            <a:off x="3822181" y="38862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5DB91A-D516-53F5-748C-122CACA7DB51}"/>
              </a:ext>
            </a:extLst>
          </p:cNvPr>
          <p:cNvCxnSpPr>
            <a:cxnSpLocks/>
          </p:cNvCxnSpPr>
          <p:nvPr/>
        </p:nvCxnSpPr>
        <p:spPr>
          <a:xfrm>
            <a:off x="3809989" y="32766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D360E0-409D-34C8-B2E7-01D534BB7BA7}"/>
              </a:ext>
            </a:extLst>
          </p:cNvPr>
          <p:cNvCxnSpPr>
            <a:cxnSpLocks/>
          </p:cNvCxnSpPr>
          <p:nvPr/>
        </p:nvCxnSpPr>
        <p:spPr>
          <a:xfrm>
            <a:off x="3822181" y="26670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15BBB42-79BB-9D0B-5094-8EDD486075CA}"/>
              </a:ext>
            </a:extLst>
          </p:cNvPr>
          <p:cNvCxnSpPr>
            <a:cxnSpLocks/>
          </p:cNvCxnSpPr>
          <p:nvPr/>
        </p:nvCxnSpPr>
        <p:spPr>
          <a:xfrm>
            <a:off x="3834373" y="51054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CFCF0A2-C324-3CC8-03A8-C167057DFE92}"/>
              </a:ext>
            </a:extLst>
          </p:cNvPr>
          <p:cNvCxnSpPr>
            <a:cxnSpLocks/>
          </p:cNvCxnSpPr>
          <p:nvPr/>
        </p:nvCxnSpPr>
        <p:spPr>
          <a:xfrm>
            <a:off x="6806184" y="5061466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BAF1C7-D8F4-5159-C0E2-9B33DA54D72A}"/>
              </a:ext>
            </a:extLst>
          </p:cNvPr>
          <p:cNvCxnSpPr>
            <a:cxnSpLocks/>
          </p:cNvCxnSpPr>
          <p:nvPr/>
        </p:nvCxnSpPr>
        <p:spPr>
          <a:xfrm>
            <a:off x="6806184" y="4507468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E7BE38-7A04-46CC-B5EC-97302C5F36E0}"/>
              </a:ext>
            </a:extLst>
          </p:cNvPr>
          <p:cNvCxnSpPr>
            <a:cxnSpLocks/>
          </p:cNvCxnSpPr>
          <p:nvPr/>
        </p:nvCxnSpPr>
        <p:spPr>
          <a:xfrm>
            <a:off x="6806184" y="3886200"/>
            <a:ext cx="0" cy="5217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D0EE78-A9E4-7DE9-979C-C1D071C97D13}"/>
              </a:ext>
            </a:extLst>
          </p:cNvPr>
          <p:cNvCxnSpPr>
            <a:cxnSpLocks/>
          </p:cNvCxnSpPr>
          <p:nvPr/>
        </p:nvCxnSpPr>
        <p:spPr>
          <a:xfrm>
            <a:off x="6793992" y="3308866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62A62F6-792C-35C4-156A-CF431D6C3562}"/>
              </a:ext>
            </a:extLst>
          </p:cNvPr>
          <p:cNvCxnSpPr>
            <a:cxnSpLocks/>
          </p:cNvCxnSpPr>
          <p:nvPr/>
        </p:nvCxnSpPr>
        <p:spPr>
          <a:xfrm>
            <a:off x="6781800" y="2667000"/>
            <a:ext cx="0" cy="45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8702922-C5C4-AE9C-CB8F-3777C1378682}"/>
              </a:ext>
            </a:extLst>
          </p:cNvPr>
          <p:cNvSpPr txBox="1"/>
          <p:nvPr/>
        </p:nvSpPr>
        <p:spPr>
          <a:xfrm>
            <a:off x="3809989" y="3404616"/>
            <a:ext cx="2285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Handle requests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D2AE7C-D334-C17B-DC0D-7A38BBB8CBF2}"/>
              </a:ext>
            </a:extLst>
          </p:cNvPr>
          <p:cNvSpPr txBox="1"/>
          <p:nvPr/>
        </p:nvSpPr>
        <p:spPr>
          <a:xfrm>
            <a:off x="3809989" y="3998976"/>
            <a:ext cx="2285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API Routes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721282-2215-13C6-95A0-869FE488F70B}"/>
              </a:ext>
            </a:extLst>
          </p:cNvPr>
          <p:cNvSpPr txBox="1"/>
          <p:nvPr/>
        </p:nvSpPr>
        <p:spPr>
          <a:xfrm>
            <a:off x="3822181" y="4620245"/>
            <a:ext cx="2465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Middleware (JWT)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5DE177-ADFA-123C-4B07-C04AF618E892}"/>
              </a:ext>
            </a:extLst>
          </p:cNvPr>
          <p:cNvSpPr txBox="1"/>
          <p:nvPr/>
        </p:nvSpPr>
        <p:spPr>
          <a:xfrm>
            <a:off x="6845779" y="3317486"/>
            <a:ext cx="2285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 Store/retrieve   user/recipes/Ingredients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B13858-AD66-232F-9422-0DC6A139E66A}"/>
              </a:ext>
            </a:extLst>
          </p:cNvPr>
          <p:cNvSpPr txBox="1"/>
          <p:nvPr/>
        </p:nvSpPr>
        <p:spPr>
          <a:xfrm>
            <a:off x="3581403" y="5761607"/>
            <a:ext cx="2895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(Backend: Process requests, Data Validation, Auth)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8E349-842C-7551-E568-BD2E0D4EDA15}"/>
              </a:ext>
            </a:extLst>
          </p:cNvPr>
          <p:cNvSpPr txBox="1"/>
          <p:nvPr/>
        </p:nvSpPr>
        <p:spPr>
          <a:xfrm>
            <a:off x="6695313" y="5594866"/>
            <a:ext cx="206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 Handling)</a:t>
            </a:r>
          </a:p>
        </p:txBody>
      </p:sp>
    </p:spTree>
    <p:extLst>
      <p:ext uri="{BB962C8B-B14F-4D97-AF65-F5344CB8AC3E}">
        <p14:creationId xmlns:p14="http://schemas.microsoft.com/office/powerpoint/2010/main" val="182093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17B9-89B0-4FE7-B5A0-5F1FA04D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53200" cy="914040"/>
          </a:xfrm>
        </p:spPr>
        <p:txBody>
          <a:bodyPr/>
          <a:lstStyle/>
          <a:p>
            <a:r>
              <a:rPr lang="en-US" sz="3600" dirty="0"/>
              <a:t>Key Features Implemented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6F961C-F114-4FAD-C34C-9EDDE08D76BC}"/>
              </a:ext>
            </a:extLst>
          </p:cNvPr>
          <p:cNvSpPr txBox="1"/>
          <p:nvPr/>
        </p:nvSpPr>
        <p:spPr>
          <a:xfrm>
            <a:off x="152400" y="1066800"/>
            <a:ext cx="8915400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Recipe Generation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input custom requests; Gemini API returns structured recipes instantly.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with Image Sharing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Socket.IO enables instant messaging and image uploads in community chat.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List &amp; Cart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Add/remove ingredients, persistent storage using MongoDB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 Browsing &amp; Saving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Browse curated recipes and save AI-generated ones for future 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Secure login/signup with JWT and hashed passwords.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Chat History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Messages stored locally for quick reload and MongoDB for long-term storage.</a:t>
            </a:r>
          </a:p>
        </p:txBody>
      </p:sp>
    </p:spTree>
    <p:extLst>
      <p:ext uri="{BB962C8B-B14F-4D97-AF65-F5344CB8AC3E}">
        <p14:creationId xmlns:p14="http://schemas.microsoft.com/office/powerpoint/2010/main" val="400796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EC05665-2C14-425B-ADBE-DAA735154B5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B7214BF-BFCD-4425-9B1B-EC3795D8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</a:t>
            </a:r>
          </a:p>
        </p:txBody>
      </p:sp>
      <p:sp>
        <p:nvSpPr>
          <p:cNvPr id="3" name="TextBox 2">
            <a:extLst>
              <a:ext uri="{78EC0886-F137-4378-AE8E-43EC76ADCEF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3B5C1F0-CC9B-481E-A028-911961DBD2E7}"/>
              </a:ext>
            </a:extLst>
          </p:cNvPr>
          <p:cNvSpPr txBox="1"/>
          <p:nvPr/>
        </p:nvSpPr>
        <p:spPr>
          <a:xfrm>
            <a:off x="228600" y="1066800"/>
            <a:ext cx="8534400" cy="545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Challenge 1: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Managing Real-Time Data with HTTP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Solution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: Efficiently handling real-time data through regular HTTP requests, pushing updates to MongoDB.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Challenge 2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: Secure Data Storage and Management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Solution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: Using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bcrypt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for encryption and Mongoose for effective database management.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Challenge 3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: Scalability and Performance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Solution: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Optimizing code, employing efficient data handling practices, and ensuring the system can handle increasing loads.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4: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Integrity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backend validation and Mongoose schema validation to ensure correct data formatting and prevent corruption.</a:t>
            </a:r>
          </a:p>
          <a:p>
            <a:pPr marL="367029" lvl="1" algn="l">
              <a:lnSpc>
                <a:spcPct val="150000"/>
              </a:lnSpc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</p:spTree>
    <p:extLst>
      <p:ext uri="{E22729CB-0AB9-4AEB-8366-C21A23C1A9B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1D06-D056-22D7-06E5-85DA38E5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1B934A3-6E9C-145B-9CBF-0B90F9345B25}"/>
              </a:ext>
              <a:ext uri="{3763160F-11D0-4A7E-BC5B-FB93F9FDF4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0E92BF-D30E-4133-83EB-E2A9A44249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5943" y="895739"/>
            <a:ext cx="8770775" cy="2556587"/>
          </a:xfrm>
        </p:spPr>
        <p:txBody>
          <a:bodyPr rtlCol="0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012DB3A-EED6-52E3-53F0-0F60094393B5}"/>
              </a:ext>
              <a:ext uri="{FF6109CA-1901-4625-B6FE-47CC71EB211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BF85AA0-2D9E-489C-A2B9-BED882D190D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22982" y="2566004"/>
            <a:ext cx="8229239" cy="4139596"/>
          </a:xfrm>
        </p:spPr>
        <p:txBody>
          <a:bodyPr rtlCol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49" lvl="1" indent="-377824" algn="l">
              <a:lnSpc>
                <a:spcPct val="150000"/>
              </a:lnSpc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Explanation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:</a:t>
            </a:r>
          </a:p>
          <a:p>
            <a:pPr marL="1468119" lvl="2" indent="-489373" algn="l">
              <a:lnSpc>
                <a:spcPct val="150000"/>
              </a:lnSpc>
              <a:buFont typeface="Arial"/>
              <a:buChar char="⚬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Start/Begin Process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: Entry point for the application.</a:t>
            </a:r>
          </a:p>
          <a:p>
            <a:pPr marL="1468119" lvl="2" indent="-489373" algn="l">
              <a:lnSpc>
                <a:spcPct val="150000"/>
              </a:lnSpc>
              <a:buFont typeface="Arial"/>
              <a:buChar char="⚬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User Registration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: Decision point for new or returning users. New users go through Registration, and existing users proceed to Login.</a:t>
            </a:r>
          </a:p>
          <a:p>
            <a:pPr marL="1468119" lvl="2" indent="-489373" algn="l">
              <a:lnSpc>
                <a:spcPct val="150000"/>
              </a:lnSpc>
              <a:buFont typeface="Arial"/>
              <a:buChar char="⚬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Main Page: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 After logging in, users reach the main page with options to:</a:t>
            </a:r>
          </a:p>
          <a:p>
            <a:pPr marL="2202178" lvl="3" indent="-550545" algn="l">
              <a:lnSpc>
                <a:spcPct val="150000"/>
              </a:lnSpc>
              <a:buFont typeface="Arial"/>
              <a:buChar char="￭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View Recipes</a:t>
            </a:r>
          </a:p>
          <a:p>
            <a:pPr marL="2202178" lvl="3" indent="-550545" algn="l">
              <a:lnSpc>
                <a:spcPct val="150000"/>
              </a:lnSpc>
              <a:buFont typeface="Arial"/>
              <a:buChar char="￭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View Socials (Chat)</a:t>
            </a:r>
          </a:p>
          <a:p>
            <a:pPr marL="2202178" lvl="3" indent="-550545" algn="l">
              <a:lnSpc>
                <a:spcPct val="150000"/>
              </a:lnSpc>
              <a:buFont typeface="Arial"/>
              <a:buChar char="￭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Buy Ingredients (which leads to Checkout/Process Payment)</a:t>
            </a:r>
          </a:p>
          <a:p>
            <a:pPr marL="1468119" lvl="2" indent="-489373" algn="l">
              <a:lnSpc>
                <a:spcPct val="150000"/>
              </a:lnSpc>
              <a:buFont typeface="Arial"/>
              <a:buChar char="⚬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All paths eventually lead to Logout.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A6894B-7BCD-E748-7F2C-93739612FD2C}"/>
              </a:ext>
              <a:ext uri="{E63B6A04-4D08-4A36-B734-7D942E565B3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ACDA48-AEF7-44E7-A0C4-01EAC59C6776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6200" y="55983"/>
            <a:ext cx="8358313" cy="724879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E714E-B682-4482-F1C4-0E7A26BAB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1143000"/>
            <a:ext cx="8677109" cy="157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69018"/>
      </p:ext>
      <p:ext uri="{A3940CE7-1BF6-4CB8-A6B0-627E378ECA5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25451570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B0A5-9717-3FA3-943B-B43214DD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A0BACA-CAF7-C23D-E57F-163292274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3" y="926330"/>
            <a:ext cx="4459605" cy="22015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C9AB16-4A0A-71E7-5B3A-44B94102A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67" y="1005387"/>
            <a:ext cx="4444365" cy="2043430"/>
          </a:xfrm>
          <a:prstGeom prst="rect">
            <a:avLst/>
          </a:prstGeom>
        </p:spPr>
      </p:pic>
      <p:pic>
        <p:nvPicPr>
          <p:cNvPr id="5" name="Picture 4" descr="A screenshot of a recipe destination&#10;&#10;AI-generated content may be incorrect.">
            <a:extLst>
              <a:ext uri="{FF2B5EF4-FFF2-40B4-BE49-F238E27FC236}">
                <a16:creationId xmlns:a16="http://schemas.microsoft.com/office/drawing/2014/main" id="{7F9850C6-7FF7-5433-4CFA-C7C95F443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76600"/>
            <a:ext cx="6485698" cy="318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2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EA5096-3C0C-FE9F-77B1-97120EF26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56" y="838200"/>
            <a:ext cx="5794562" cy="289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34D879-8ED6-E373-3740-776098FB6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157" y="3962400"/>
            <a:ext cx="5794561" cy="263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29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0A4C3B-7FE3-215D-A666-DC6ADD35F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66800"/>
            <a:ext cx="7536030" cy="236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877415-75A5-9F60-3D23-44808B89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657600"/>
            <a:ext cx="7821343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7AF3C720-403D-4EE8-B260-D7CE29F00EE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CAE2079-996D-4287-B101-5DED7568FB6C}"/>
              </a:ext>
            </a:extLst>
          </p:cNvPr>
          <p:cNvSpPr txBox="1"/>
          <p:nvPr/>
        </p:nvSpPr>
        <p:spPr>
          <a:xfrm>
            <a:off x="-1356885" y="-25521"/>
            <a:ext cx="5776486" cy="837720"/>
          </a:xfrm>
          <a:prstGeom prst="rect">
            <a:avLst/>
          </a:prstGeom>
          <a:noFill/>
          <a:ln w="9360">
            <a:noFill/>
          </a:ln>
        </p:spPr>
        <p:txBody>
          <a:bodyPr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Shape 3">
            <a:extLst>
              <a:ext uri="{0F023CFB-0474-42F5-8969-7BAB76B57B7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19A4E03-389A-42D6-AED8-7A1676125D38}"/>
              </a:ext>
            </a:extLst>
          </p:cNvPr>
          <p:cNvSpPr txBox="1"/>
          <p:nvPr/>
        </p:nvSpPr>
        <p:spPr>
          <a:xfrm>
            <a:off x="6553080" y="6356520"/>
            <a:ext cx="2133359" cy="364680"/>
          </a:xfrm>
          <a:prstGeom prst="rect">
            <a:avLst/>
          </a:prstGeom>
          <a:noFill/>
          <a:ln>
            <a:noFill/>
          </a:ln>
        </p:spPr>
        <p:txBody>
          <a:bodyPr rtlCol="0" anchor="ctr">
            <a:noAutofit/>
          </a:bodyPr>
          <a:lstStyle/>
          <a:p>
            <a:pPr algn="r">
              <a:lnSpc>
                <a:spcPct val="100000"/>
              </a:lnSpc>
            </a:pPr>
            <a:fld id="{8C894C40-F075-4C51-9080-5966E7E4C89D}" type="slidenum"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2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78812-26CE-90BB-C5AD-9965EA07C60D}"/>
              </a:ext>
            </a:extLst>
          </p:cNvPr>
          <p:cNvSpPr txBox="1"/>
          <p:nvPr/>
        </p:nvSpPr>
        <p:spPr>
          <a:xfrm>
            <a:off x="152400" y="821026"/>
            <a:ext cx="8229600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CulinaryCrafts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integrates recipe discovery, AI-powered recipe generation, real-time social interaction, and ingredient management into a single platform.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use of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full-stack development.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integration of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AI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personalized recipes.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 using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responsive, scalable, and user-friendly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meeting the initial objectives.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solution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cooking enthusiasts by combining technology and convenience.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55BFAAAF-8B53-42BE-9435-6FCDD3E07624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64EC-7664-62E7-0002-45D778E8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0C5247CB-5F91-FE7B-8ADC-469EE72DC374}"/>
              </a:ext>
              <a:ext uri="{7AF3C720-403D-4EE8-B260-D7CE29F00EE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AE2079-996D-4287-B101-5DED7568FB6C}"/>
              </a:ext>
            </a:extLst>
          </p:cNvPr>
          <p:cNvSpPr txBox="1"/>
          <p:nvPr/>
        </p:nvSpPr>
        <p:spPr>
          <a:xfrm>
            <a:off x="-1356885" y="-25521"/>
            <a:ext cx="5776486" cy="837720"/>
          </a:xfrm>
          <a:prstGeom prst="rect">
            <a:avLst/>
          </a:prstGeom>
          <a:noFill/>
          <a:ln w="9360">
            <a:noFill/>
          </a:ln>
        </p:spPr>
        <p:txBody>
          <a:bodyPr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</a:t>
            </a:r>
            <a:endParaRPr lang="e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E99884A3-8F33-E6BF-A9B0-7C8383C37D5E}"/>
              </a:ext>
              <a:ext uri="{0F023CFB-0474-42F5-8969-7BAB76B57B7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9A4E03-389A-42D6-AED8-7A1676125D38}"/>
              </a:ext>
            </a:extLst>
          </p:cNvPr>
          <p:cNvSpPr txBox="1"/>
          <p:nvPr/>
        </p:nvSpPr>
        <p:spPr>
          <a:xfrm>
            <a:off x="6553080" y="6356520"/>
            <a:ext cx="2133359" cy="364680"/>
          </a:xfrm>
          <a:prstGeom prst="rect">
            <a:avLst/>
          </a:prstGeom>
          <a:noFill/>
          <a:ln>
            <a:noFill/>
          </a:ln>
        </p:spPr>
        <p:txBody>
          <a:bodyPr rtlCol="0" anchor="ctr">
            <a:noAutofit/>
          </a:bodyPr>
          <a:lstStyle/>
          <a:p>
            <a:pPr algn="r">
              <a:lnSpc>
                <a:spcPct val="100000"/>
              </a:lnSpc>
            </a:pPr>
            <a:fld id="{8C894C40-F075-4C51-9080-5966E7E4C89D}" type="slidenum"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2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FECC3429-EB61-A90F-F09E-D5646FCD2C1E}"/>
              </a:ext>
              <a:ext uri="{5E4843A5-BAB9-4E82-A25E-6FFA728D6E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713B40-E3A3-4688-9966-717F02CC6754}"/>
              </a:ext>
            </a:extLst>
          </p:cNvPr>
          <p:cNvSpPr txBox="1"/>
          <p:nvPr/>
        </p:nvSpPr>
        <p:spPr>
          <a:xfrm>
            <a:off x="76201" y="1143000"/>
            <a:ext cx="8077200" cy="5410200"/>
          </a:xfrm>
          <a:prstGeom prst="rect">
            <a:avLst/>
          </a:prstGeom>
          <a:noFill/>
          <a:ln w="9360">
            <a:noFill/>
          </a:ln>
        </p:spPr>
        <p:txBody>
          <a:bodyPr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 :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https://ai.google.dev/gemini-api/docs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reactJS :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https://react.dev/learn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: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https://www.mongodb.com/docs/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SocketIO :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https://socket.io/docs/v4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: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https://developers.docusign.com/platform/auth/jwt/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: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https://mongoosejs.com/docs/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expressJS :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https://expressjs.com/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NodeJS :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https://nodejs.org/api/all.html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573024"/>
      </p:ext>
      <p:ext uri="{55BFAAAF-8B53-42BE-9435-6FCDD3E0762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25451570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EB3431F4-4BB7-4DBF-B92F-27F43EDC845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EA175CE-BDA2-4440-8674-D07C356B121B}"/>
              </a:ext>
            </a:extLst>
          </p:cNvPr>
          <p:cNvSpPr txBox="1"/>
          <p:nvPr/>
        </p:nvSpPr>
        <p:spPr>
          <a:xfrm>
            <a:off x="1297577" y="2821578"/>
            <a:ext cx="6705598" cy="1410788"/>
          </a:xfrm>
          <a:prstGeom prst="rect">
            <a:avLst/>
          </a:prstGeom>
          <a:noFill/>
          <a:ln w="9360">
            <a:noFill/>
          </a:ln>
        </p:spPr>
        <p:txBody>
          <a:bodyPr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Shape 3">
            <a:extLst>
              <a:ext uri="{9AE72409-A8FA-4E43-9D86-979837CD1B1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8857C45-BED2-4DCB-A2CB-898C12BC84DB}"/>
              </a:ext>
            </a:extLst>
          </p:cNvPr>
          <p:cNvSpPr txBox="1"/>
          <p:nvPr/>
        </p:nvSpPr>
        <p:spPr>
          <a:xfrm>
            <a:off x="6553080" y="6356520"/>
            <a:ext cx="2133359" cy="364680"/>
          </a:xfrm>
          <a:prstGeom prst="rect">
            <a:avLst/>
          </a:prstGeom>
          <a:noFill/>
          <a:ln>
            <a:noFill/>
          </a:ln>
        </p:spPr>
        <p:txBody>
          <a:bodyPr rtlCol="0" anchor="ctr">
            <a:noAutofit/>
          </a:bodyPr>
          <a:lstStyle/>
          <a:p>
            <a:pPr algn="r">
              <a:lnSpc>
                <a:spcPct val="100000"/>
              </a:lnSpc>
            </a:pPr>
            <a:fld id="{95BE67F7-BE2F-4DA4-B472-9D5EE5A83C0C}" type="slidenum"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2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D8681DED-C0B5-4A01-AA0A-4C71C5C739F1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25451570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solidFill>
            <a:schemeClr val="phClr">
              <a:shade val="95000"/>
              <a:satMod val="104999"/>
            </a:schemeClr>
          </a:solidFill>
          <a:prstDash val="solid"/>
          <a:miter lim="800000"/>
        </a:ln>
        <a:ln w="25400" cap="flat">
          <a:solidFill>
            <a:schemeClr val="phClr"/>
          </a:solidFill>
          <a:prstDash val="solid"/>
          <a:miter lim="800000"/>
        </a:ln>
        <a:ln w="3810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solidFill>
            <a:schemeClr val="phClr">
              <a:shade val="95000"/>
              <a:satMod val="104999"/>
            </a:schemeClr>
          </a:solidFill>
          <a:prstDash val="solid"/>
          <a:miter lim="800000"/>
        </a:ln>
        <a:ln w="25400" cap="flat">
          <a:solidFill>
            <a:schemeClr val="phClr"/>
          </a:solidFill>
          <a:prstDash val="solid"/>
          <a:miter lim="800000"/>
        </a:ln>
        <a:ln w="3810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881</Words>
  <Application>Microsoft Office PowerPoint</Application>
  <PresentationFormat>On-screen Show (4:3)</PresentationFormat>
  <Paragraphs>110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Times New Roman</vt:lpstr>
      <vt:lpstr>Calibri</vt:lpstr>
      <vt:lpstr>Canva Sans</vt:lpstr>
      <vt:lpstr>Arial</vt:lpstr>
      <vt:lpstr>Office Theme</vt:lpstr>
      <vt:lpstr>PowerPoint Presentation</vt:lpstr>
      <vt:lpstr>Introduction</vt:lpstr>
      <vt:lpstr>PowerPoint Presentation</vt:lpstr>
      <vt:lpstr>PowerPoint Presentation</vt:lpstr>
      <vt:lpstr> Architecture</vt:lpstr>
      <vt:lpstr>PowerPoint Presentation</vt:lpstr>
      <vt:lpstr>Key Features Implemented</vt:lpstr>
      <vt:lpstr>Challenges &amp; Solution</vt:lpstr>
      <vt:lpstr>work flow</vt:lpstr>
      <vt:lpstr>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Samridhi's PC</dc:creator>
  <cp:lastModifiedBy>Ishaan ‎‎‎‎‎</cp:lastModifiedBy>
  <cp:revision>29</cp:revision>
  <dcterms:created xsi:type="dcterms:W3CDTF">2024-09-04T17:18:57Z</dcterms:created>
  <dcterms:modified xsi:type="dcterms:W3CDTF">2025-12-14T08:56:25Z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2025-03-05T13:25:40Z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2113a880-ca86-4b73-9e00-653b69c61387</vt:lpwstr>
  </property>
  <property fmtid="{D5CDD505-2E9C-101B-9397-08002B2CF9AE}" pid="7" name="MSIP_Label_defa4170-0d19-0005-0004-bc88714345d2_ActionId">
    <vt:lpwstr>dd5f52d6-d775-45ab-b1e6-25ea1705079e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